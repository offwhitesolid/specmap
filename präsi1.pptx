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6" r:id="rId2"/>
    <p:sldId id="268" r:id="rId3"/>
    <p:sldId id="271" r:id="rId4"/>
    <p:sldId id="272" r:id="rId5"/>
    <p:sldId id="273" r:id="rId6"/>
    <p:sldId id="269" r:id="rId7"/>
    <p:sldId id="270" r:id="rId8"/>
    <p:sldId id="275" r:id="rId9"/>
    <p:sldId id="274" r:id="rId10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05BC58"/>
    <a:srgbClr val="0000FF"/>
    <a:srgbClr val="800080"/>
    <a:srgbClr val="A6A6A6"/>
    <a:srgbClr val="006666"/>
    <a:srgbClr val="7030A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Keine Formatvorlage, Tabellenraster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21" autoAdjust="0"/>
    <p:restoredTop sz="81132" autoAdjust="0"/>
  </p:normalViewPr>
  <p:slideViewPr>
    <p:cSldViewPr snapToGrid="0">
      <p:cViewPr varScale="1">
        <p:scale>
          <a:sx n="90" d="100"/>
          <a:sy n="90" d="100"/>
        </p:scale>
        <p:origin x="1944" y="7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04DFE3A-8DA1-4185-8DAC-A3C0373CA501}" type="datetimeFigureOut">
              <a:rPr lang="de-DE" smtClean="0"/>
              <a:t>21.10.2024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2D8BFFB-5607-47ED-8530-06B243C3123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557944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D8BFFB-5607-47ED-8530-06B243C31236}" type="slidenum">
              <a:rPr lang="de-DE" smtClean="0"/>
              <a:t>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660612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Formatvorlage des Untertitelmasters durch Klicken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812CE3-55DF-4CCE-8F59-A2E88D5EB802}" type="datetime1">
              <a:rPr lang="de-DE" smtClean="0"/>
              <a:t>21.10.2024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1898C-A912-43B4-BE81-11F0987612F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443791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BBCF5B-4C7A-4FC5-9D42-DCAE99BAE65D}" type="datetime1">
              <a:rPr lang="de-DE" smtClean="0"/>
              <a:t>21.10.2024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1898C-A912-43B4-BE81-11F0987612F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504015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56510-9DD4-400E-A3C3-D2AC0B276C70}" type="datetime1">
              <a:rPr lang="de-DE" smtClean="0"/>
              <a:t>21.10.2024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1898C-A912-43B4-BE81-11F0987612F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662669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E96EBC-D5A1-4D65-B774-E5907C17BF08}" type="datetime1">
              <a:rPr lang="de-DE" smtClean="0"/>
              <a:t>21.10.2024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1898C-A912-43B4-BE81-11F0987612F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337334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98B25E-918A-4074-AA14-046D99C2B7E1}" type="datetime1">
              <a:rPr lang="de-DE" smtClean="0"/>
              <a:t>21.10.2024</a:t>
            </a:fld>
            <a:endParaRPr lang="de-DE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1898C-A912-43B4-BE81-11F0987612F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429851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746951-5E03-4F5F-B917-B26412BBE9A7}" type="datetime1">
              <a:rPr lang="de-DE" smtClean="0"/>
              <a:t>21.10.2024</a:t>
            </a:fld>
            <a:endParaRPr lang="de-DE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1898C-A912-43B4-BE81-11F0987612F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859024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3188F2-617A-400D-825A-1BF78C6A7202}" type="datetime1">
              <a:rPr lang="de-DE" smtClean="0"/>
              <a:t>21.10.2024</a:t>
            </a:fld>
            <a:endParaRPr lang="de-DE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1898C-A912-43B4-BE81-11F0987612F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007286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57F101-9225-4212-B5B1-A0D1C60D2A61}" type="datetime1">
              <a:rPr lang="de-DE" smtClean="0"/>
              <a:t>21.10.2024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1898C-A912-43B4-BE81-11F0987612F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545441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Bildplatzhalt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77B5D8-F955-4573-B942-17CFA19F48BD}" type="datetime1">
              <a:rPr lang="de-DE" smtClean="0"/>
              <a:t>21.10.2024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1898C-A912-43B4-BE81-11F0987612F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097273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F0830C-5F69-4AEC-B55A-F4A67D47750B}" type="datetime1">
              <a:rPr lang="de-DE" smtClean="0"/>
              <a:t>21.10.2024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1898C-A912-43B4-BE81-11F0987612F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97218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F3EC06-6FDB-4EFC-8221-3FA65BA67080}" type="datetime1">
              <a:rPr lang="de-DE" smtClean="0"/>
              <a:t>21.10.2024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1898C-A912-43B4-BE81-11F0987612F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142764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6A177A-59C8-41C7-9C48-6CAC27C2081E}" type="datetime1">
              <a:rPr lang="de-DE" smtClean="0"/>
              <a:t>21.10.2024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F1898C-A912-43B4-BE81-11F0987612F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499518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fik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951077"/>
          </a:xfrm>
          <a:prstGeom prst="rect">
            <a:avLst/>
          </a:prstGeom>
        </p:spPr>
      </p:pic>
      <p:sp>
        <p:nvSpPr>
          <p:cNvPr id="6" name="Rechteck 5"/>
          <p:cNvSpPr/>
          <p:nvPr/>
        </p:nvSpPr>
        <p:spPr>
          <a:xfrm>
            <a:off x="962024" y="951077"/>
            <a:ext cx="11229976" cy="5906923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1524000" y="2971801"/>
            <a:ext cx="9144000" cy="2387600"/>
          </a:xfrm>
        </p:spPr>
        <p:txBody>
          <a:bodyPr>
            <a:noAutofit/>
          </a:bodyPr>
          <a:lstStyle/>
          <a:p>
            <a:r>
              <a:rPr lang="de-DE" sz="4800" b="1" dirty="0">
                <a:solidFill>
                  <a:schemeClr val="bg1"/>
                </a:solidFill>
              </a:rPr>
              <a:t>Report</a:t>
            </a:r>
            <a:br>
              <a:rPr lang="de-DE" sz="4800" b="1" dirty="0">
                <a:solidFill>
                  <a:schemeClr val="bg1"/>
                </a:solidFill>
              </a:rPr>
            </a:br>
            <a:r>
              <a:rPr lang="de-DE" sz="4800" b="1" dirty="0">
                <a:solidFill>
                  <a:schemeClr val="bg1"/>
                </a:solidFill>
              </a:rPr>
              <a:t>–</a:t>
            </a:r>
            <a:br>
              <a:rPr lang="de-DE" sz="4800" b="1" dirty="0">
                <a:solidFill>
                  <a:schemeClr val="bg1"/>
                </a:solidFill>
              </a:rPr>
            </a:br>
            <a:r>
              <a:rPr lang="de-DE" sz="4800" b="1" dirty="0" err="1">
                <a:solidFill>
                  <a:schemeClr val="bg1"/>
                </a:solidFill>
              </a:rPr>
              <a:t>Hyperspectral</a:t>
            </a:r>
            <a:r>
              <a:rPr lang="de-DE" sz="4800" b="1" dirty="0">
                <a:solidFill>
                  <a:schemeClr val="bg1"/>
                </a:solidFill>
              </a:rPr>
              <a:t> </a:t>
            </a:r>
            <a:r>
              <a:rPr lang="de-DE" sz="4800" b="1" dirty="0" err="1">
                <a:solidFill>
                  <a:schemeClr val="bg1"/>
                </a:solidFill>
              </a:rPr>
              <a:t>imaging</a:t>
            </a:r>
            <a:br>
              <a:rPr lang="de-DE" sz="4400" dirty="0">
                <a:solidFill>
                  <a:schemeClr val="bg1"/>
                </a:solidFill>
              </a:rPr>
            </a:br>
            <a:endParaRPr lang="de-DE" sz="3200" dirty="0">
              <a:solidFill>
                <a:schemeClr val="bg1"/>
              </a:solidFill>
            </a:endParaRPr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1524000" y="4783138"/>
            <a:ext cx="9144000" cy="1655762"/>
          </a:xfrm>
        </p:spPr>
        <p:txBody>
          <a:bodyPr>
            <a:normAutofit lnSpcReduction="10000"/>
          </a:bodyPr>
          <a:lstStyle/>
          <a:p>
            <a:endParaRPr lang="de-DE" dirty="0">
              <a:solidFill>
                <a:schemeClr val="bg1"/>
              </a:solidFill>
            </a:endParaRPr>
          </a:p>
          <a:p>
            <a:endParaRPr lang="de-DE" dirty="0">
              <a:solidFill>
                <a:schemeClr val="bg1"/>
              </a:solidFill>
            </a:endParaRPr>
          </a:p>
          <a:p>
            <a:r>
              <a:rPr lang="de-DE" dirty="0">
                <a:solidFill>
                  <a:schemeClr val="bg1"/>
                </a:solidFill>
              </a:rPr>
              <a:t>23.10.2024</a:t>
            </a:r>
          </a:p>
          <a:p>
            <a:r>
              <a:rPr lang="de-DE" dirty="0">
                <a:solidFill>
                  <a:schemeClr val="bg1"/>
                </a:solidFill>
              </a:rPr>
              <a:t>Moritz Limbacher</a:t>
            </a:r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1898C-A912-43B4-BE81-11F0987612F7}" type="slidenum">
              <a:rPr lang="de-DE" smtClean="0"/>
              <a:t>1</a:t>
            </a:fld>
            <a:endParaRPr lang="de-DE"/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DA1CF25D-B89E-EA51-5B50-BFA6E848B9B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25720" y="165095"/>
            <a:ext cx="3115946" cy="613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86922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E904006-55CE-D028-582C-4D8CEA2D41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HSI Program in Igor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64B71B4-B177-C6DC-3DB1-31C902171B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90750"/>
            <a:ext cx="10515600" cy="3715639"/>
          </a:xfrm>
        </p:spPr>
        <p:txBody>
          <a:bodyPr/>
          <a:lstStyle/>
          <a:p>
            <a:r>
              <a:rPr lang="de-DE"/>
              <a:t>Explenation and current features</a:t>
            </a:r>
          </a:p>
          <a:p>
            <a:r>
              <a:rPr lang="de-DE"/>
              <a:t>features to implement in the future</a:t>
            </a:r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E490B051-DB07-BC3F-4569-5772834DDA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1898C-A912-43B4-BE81-11F0987612F7}" type="slidenum">
              <a:rPr lang="de-DE" smtClean="0"/>
              <a:t>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049388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B918AAD-C301-5B70-1E47-8A7EA7353B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Load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files</a:t>
            </a:r>
            <a:endParaRPr lang="de-DE" dirty="0"/>
          </a:p>
        </p:txBody>
      </p:sp>
      <p:pic>
        <p:nvPicPr>
          <p:cNvPr id="6" name="Inhaltsplatzhalter 5">
            <a:extLst>
              <a:ext uri="{FF2B5EF4-FFF2-40B4-BE49-F238E27FC236}">
                <a16:creationId xmlns:a16="http://schemas.microsoft.com/office/drawing/2014/main" id="{99F177D1-87D2-A6F8-8CF0-2B3FF8BD7D5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t="2986" r="25880"/>
          <a:stretch/>
        </p:blipFill>
        <p:spPr>
          <a:xfrm>
            <a:off x="838200" y="1552354"/>
            <a:ext cx="6827874" cy="489815"/>
          </a:xfrm>
        </p:spPr>
      </p:pic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026639FA-FFD8-24FB-D78C-2F28C1A9A9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1898C-A912-43B4-BE81-11F0987612F7}" type="slidenum">
              <a:rPr lang="de-DE" smtClean="0"/>
              <a:t>3</a:t>
            </a:fld>
            <a:endParaRPr lang="de-DE"/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23011806-3F56-5A9A-F41A-9D9709270B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2960723"/>
            <a:ext cx="6563641" cy="285790"/>
          </a:xfrm>
          <a:prstGeom prst="rect">
            <a:avLst/>
          </a:prstGeom>
        </p:spPr>
      </p:pic>
      <p:sp>
        <p:nvSpPr>
          <p:cNvPr id="9" name="Textfeld 8">
            <a:extLst>
              <a:ext uri="{FF2B5EF4-FFF2-40B4-BE49-F238E27FC236}">
                <a16:creationId xmlns:a16="http://schemas.microsoft.com/office/drawing/2014/main" id="{C7834193-1F83-6EFE-8E71-27573A142BC8}"/>
              </a:ext>
            </a:extLst>
          </p:cNvPr>
          <p:cNvSpPr txBox="1"/>
          <p:nvPr/>
        </p:nvSpPr>
        <p:spPr>
          <a:xfrm>
            <a:off x="838200" y="2498651"/>
            <a:ext cx="4531242" cy="3792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Remove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cosmic</a:t>
            </a:r>
            <a:r>
              <a:rPr lang="de-DE" dirty="0"/>
              <a:t> </a:t>
            </a:r>
            <a:r>
              <a:rPr lang="de-DE" dirty="0" err="1"/>
              <a:t>rays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1494617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DC826F9-92EF-5FE4-0192-20D0F88971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Cosmic</a:t>
            </a:r>
            <a:r>
              <a:rPr lang="de-DE" dirty="0"/>
              <a:t> </a:t>
            </a:r>
            <a:r>
              <a:rPr lang="de-DE" dirty="0" err="1"/>
              <a:t>ray</a:t>
            </a:r>
            <a:r>
              <a:rPr lang="de-DE" dirty="0"/>
              <a:t> </a:t>
            </a:r>
            <a:r>
              <a:rPr lang="de-DE" dirty="0" err="1"/>
              <a:t>removal</a:t>
            </a:r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53C2C2F3-10A8-8697-B312-F7DF06B8C5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1898C-A912-43B4-BE81-11F0987612F7}" type="slidenum">
              <a:rPr lang="de-DE" smtClean="0"/>
              <a:t>4</a:t>
            </a:fld>
            <a:endParaRPr lang="de-DE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7ABC384A-A51A-CA93-B269-79F91D871B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404898"/>
            <a:ext cx="6563641" cy="285790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DE3E065D-8033-B74A-93E2-68F89EE399B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-1123" r="-1"/>
          <a:stretch/>
        </p:blipFill>
        <p:spPr>
          <a:xfrm>
            <a:off x="8408138" y="168194"/>
            <a:ext cx="2386123" cy="1646587"/>
          </a:xfrm>
          <a:prstGeom prst="rect">
            <a:avLst/>
          </a:prstGeom>
        </p:spPr>
      </p:pic>
      <p:pic>
        <p:nvPicPr>
          <p:cNvPr id="10" name="Grafik 9">
            <a:extLst>
              <a:ext uri="{FF2B5EF4-FFF2-40B4-BE49-F238E27FC236}">
                <a16:creationId xmlns:a16="http://schemas.microsoft.com/office/drawing/2014/main" id="{F7544537-6CF5-364B-174B-B73734DEC56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69050" y="2246059"/>
            <a:ext cx="3664297" cy="1839506"/>
          </a:xfrm>
          <a:prstGeom prst="rect">
            <a:avLst/>
          </a:prstGeom>
        </p:spPr>
      </p:pic>
      <p:sp>
        <p:nvSpPr>
          <p:cNvPr id="11" name="Textfeld 10">
            <a:extLst>
              <a:ext uri="{FF2B5EF4-FFF2-40B4-BE49-F238E27FC236}">
                <a16:creationId xmlns:a16="http://schemas.microsoft.com/office/drawing/2014/main" id="{D4D60C10-9330-1A6E-EC4E-757121867F6D}"/>
              </a:ext>
            </a:extLst>
          </p:cNvPr>
          <p:cNvSpPr txBox="1"/>
          <p:nvPr/>
        </p:nvSpPr>
        <p:spPr>
          <a:xfrm>
            <a:off x="637953" y="1956391"/>
            <a:ext cx="701748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de-DE" dirty="0" err="1"/>
              <a:t>Calculate</a:t>
            </a:r>
            <a:r>
              <a:rPr lang="de-DE" dirty="0"/>
              <a:t> derivative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cosmic</a:t>
            </a:r>
            <a:endParaRPr lang="de-DE" dirty="0"/>
          </a:p>
          <a:p>
            <a:pPr marL="342900" indent="-342900">
              <a:buAutoNum type="arabicPeriod"/>
            </a:pPr>
            <a:r>
              <a:rPr lang="de-DE" dirty="0"/>
              <a:t>Look </a:t>
            </a:r>
            <a:r>
              <a:rPr lang="de-DE" dirty="0" err="1"/>
              <a:t>for</a:t>
            </a:r>
            <a:r>
              <a:rPr lang="de-DE" dirty="0"/>
              <a:t> </a:t>
            </a:r>
            <a:r>
              <a:rPr lang="de-DE" dirty="0" err="1"/>
              <a:t>cosmic</a:t>
            </a:r>
            <a:r>
              <a:rPr lang="de-DE" dirty="0"/>
              <a:t> </a:t>
            </a:r>
            <a:r>
              <a:rPr lang="de-DE" dirty="0" err="1"/>
              <a:t>start</a:t>
            </a:r>
            <a:r>
              <a:rPr lang="de-DE" dirty="0"/>
              <a:t> and end („</a:t>
            </a:r>
            <a:r>
              <a:rPr lang="de-DE" dirty="0" err="1"/>
              <a:t>pairs</a:t>
            </a:r>
            <a:r>
              <a:rPr lang="de-DE" dirty="0"/>
              <a:t>“) </a:t>
            </a:r>
            <a:r>
              <a:rPr lang="de-DE" dirty="0" err="1"/>
              <a:t>within</a:t>
            </a:r>
            <a:r>
              <a:rPr lang="de-DE" dirty="0"/>
              <a:t> </a:t>
            </a:r>
            <a:r>
              <a:rPr lang="de-DE" dirty="0" err="1"/>
              <a:t>cosmic</a:t>
            </a:r>
            <a:r>
              <a:rPr lang="de-DE" dirty="0"/>
              <a:t> </a:t>
            </a:r>
            <a:r>
              <a:rPr lang="de-DE" dirty="0" err="1"/>
              <a:t>width</a:t>
            </a:r>
            <a:endParaRPr lang="de-DE" dirty="0"/>
          </a:p>
          <a:p>
            <a:pPr marL="342900" indent="-342900">
              <a:buAutoNum type="arabicPeriod"/>
            </a:pPr>
            <a:r>
              <a:rPr lang="de-DE" dirty="0" err="1"/>
              <a:t>Interpolate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cosmics</a:t>
            </a:r>
            <a:r>
              <a:rPr lang="de-DE" dirty="0"/>
              <a:t> </a:t>
            </a:r>
            <a:r>
              <a:rPr lang="de-DE" dirty="0" err="1"/>
              <a:t>by</a:t>
            </a:r>
            <a:r>
              <a:rPr lang="de-DE" dirty="0"/>
              <a:t> </a:t>
            </a:r>
            <a:r>
              <a:rPr lang="de-DE" dirty="0" err="1"/>
              <a:t>surrounding</a:t>
            </a:r>
            <a:r>
              <a:rPr lang="de-DE" dirty="0"/>
              <a:t> </a:t>
            </a:r>
            <a:r>
              <a:rPr lang="de-DE" dirty="0" err="1"/>
              <a:t>pixels</a:t>
            </a:r>
            <a:endParaRPr lang="de-DE" dirty="0"/>
          </a:p>
        </p:txBody>
      </p:sp>
      <p:pic>
        <p:nvPicPr>
          <p:cNvPr id="13" name="Grafik 12">
            <a:extLst>
              <a:ext uri="{FF2B5EF4-FFF2-40B4-BE49-F238E27FC236}">
                <a16:creationId xmlns:a16="http://schemas.microsoft.com/office/drawing/2014/main" id="{CD9BF7EE-DFA4-F94A-A74A-4A0DE10EB94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00649" y="3145424"/>
            <a:ext cx="1695687" cy="295316"/>
          </a:xfrm>
          <a:prstGeom prst="rect">
            <a:avLst/>
          </a:prstGeom>
        </p:spPr>
      </p:pic>
      <p:pic>
        <p:nvPicPr>
          <p:cNvPr id="17" name="Grafik 16">
            <a:extLst>
              <a:ext uri="{FF2B5EF4-FFF2-40B4-BE49-F238E27FC236}">
                <a16:creationId xmlns:a16="http://schemas.microsoft.com/office/drawing/2014/main" id="{C82FE951-4584-5CC0-DDB5-51B476CC727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05138" y="3990019"/>
            <a:ext cx="3115110" cy="2210108"/>
          </a:xfrm>
          <a:prstGeom prst="rect">
            <a:avLst/>
          </a:prstGeom>
        </p:spPr>
      </p:pic>
      <p:sp>
        <p:nvSpPr>
          <p:cNvPr id="18" name="Textfeld 17">
            <a:extLst>
              <a:ext uri="{FF2B5EF4-FFF2-40B4-BE49-F238E27FC236}">
                <a16:creationId xmlns:a16="http://schemas.microsoft.com/office/drawing/2014/main" id="{89A7FE7F-0FF2-6949-8B9E-B47B83AB1B22}"/>
              </a:ext>
            </a:extLst>
          </p:cNvPr>
          <p:cNvSpPr txBox="1"/>
          <p:nvPr/>
        </p:nvSpPr>
        <p:spPr>
          <a:xfrm>
            <a:off x="838200" y="3429000"/>
            <a:ext cx="38489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Axis: Counts / </a:t>
            </a:r>
            <a:r>
              <a:rPr lang="de-DE" dirty="0" err="1"/>
              <a:t>spectrometer</a:t>
            </a:r>
            <a:r>
              <a:rPr lang="de-DE" dirty="0"/>
              <a:t> </a:t>
            </a:r>
            <a:r>
              <a:rPr lang="de-DE" dirty="0" err="1"/>
              <a:t>pixel</a:t>
            </a:r>
            <a:endParaRPr lang="de-DE" dirty="0"/>
          </a:p>
        </p:txBody>
      </p:sp>
      <p:grpSp>
        <p:nvGrpSpPr>
          <p:cNvPr id="40" name="Gruppieren 39">
            <a:extLst>
              <a:ext uri="{FF2B5EF4-FFF2-40B4-BE49-F238E27FC236}">
                <a16:creationId xmlns:a16="http://schemas.microsoft.com/office/drawing/2014/main" id="{24E71E8C-79B1-5855-6784-55D1D25B50E4}"/>
              </a:ext>
            </a:extLst>
          </p:cNvPr>
          <p:cNvGrpSpPr/>
          <p:nvPr/>
        </p:nvGrpSpPr>
        <p:grpSpPr>
          <a:xfrm>
            <a:off x="5429692" y="2724235"/>
            <a:ext cx="666308" cy="568847"/>
            <a:chOff x="5429692" y="2724235"/>
            <a:chExt cx="666308" cy="568847"/>
          </a:xfrm>
        </p:grpSpPr>
        <p:sp>
          <p:nvSpPr>
            <p:cNvPr id="19" name="Rechteck 18">
              <a:extLst>
                <a:ext uri="{FF2B5EF4-FFF2-40B4-BE49-F238E27FC236}">
                  <a16:creationId xmlns:a16="http://schemas.microsoft.com/office/drawing/2014/main" id="{B926F1B4-1E02-6DFD-0DBC-3CEA15746DFF}"/>
                </a:ext>
              </a:extLst>
            </p:cNvPr>
            <p:cNvSpPr/>
            <p:nvPr/>
          </p:nvSpPr>
          <p:spPr>
            <a:xfrm>
              <a:off x="5429692" y="2724235"/>
              <a:ext cx="180754" cy="175437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0" name="Rechteck 19">
              <a:extLst>
                <a:ext uri="{FF2B5EF4-FFF2-40B4-BE49-F238E27FC236}">
                  <a16:creationId xmlns:a16="http://schemas.microsoft.com/office/drawing/2014/main" id="{5975C5F8-3F4F-B2A1-CEFE-A13CFCB1FB2B}"/>
                </a:ext>
              </a:extLst>
            </p:cNvPr>
            <p:cNvSpPr/>
            <p:nvPr/>
          </p:nvSpPr>
          <p:spPr>
            <a:xfrm>
              <a:off x="5672469" y="2724235"/>
              <a:ext cx="180754" cy="175437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1" name="Rechteck 20">
              <a:extLst>
                <a:ext uri="{FF2B5EF4-FFF2-40B4-BE49-F238E27FC236}">
                  <a16:creationId xmlns:a16="http://schemas.microsoft.com/office/drawing/2014/main" id="{437A7A28-147E-86B8-1292-5646D16509C8}"/>
                </a:ext>
              </a:extLst>
            </p:cNvPr>
            <p:cNvSpPr/>
            <p:nvPr/>
          </p:nvSpPr>
          <p:spPr>
            <a:xfrm>
              <a:off x="5915246" y="2724235"/>
              <a:ext cx="180754" cy="175437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2" name="Rechteck 21">
              <a:extLst>
                <a:ext uri="{FF2B5EF4-FFF2-40B4-BE49-F238E27FC236}">
                  <a16:creationId xmlns:a16="http://schemas.microsoft.com/office/drawing/2014/main" id="{5CB29850-F86A-C47C-6301-97845E51606E}"/>
                </a:ext>
              </a:extLst>
            </p:cNvPr>
            <p:cNvSpPr/>
            <p:nvPr/>
          </p:nvSpPr>
          <p:spPr>
            <a:xfrm>
              <a:off x="5429692" y="2918130"/>
              <a:ext cx="180754" cy="175437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3" name="Rechteck 22">
              <a:extLst>
                <a:ext uri="{FF2B5EF4-FFF2-40B4-BE49-F238E27FC236}">
                  <a16:creationId xmlns:a16="http://schemas.microsoft.com/office/drawing/2014/main" id="{A1AD8C4E-7FB8-AABF-7201-34D4115C3DCB}"/>
                </a:ext>
              </a:extLst>
            </p:cNvPr>
            <p:cNvSpPr/>
            <p:nvPr/>
          </p:nvSpPr>
          <p:spPr>
            <a:xfrm>
              <a:off x="5672469" y="2918130"/>
              <a:ext cx="180754" cy="175437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4" name="Rechteck 23">
              <a:extLst>
                <a:ext uri="{FF2B5EF4-FFF2-40B4-BE49-F238E27FC236}">
                  <a16:creationId xmlns:a16="http://schemas.microsoft.com/office/drawing/2014/main" id="{57A43B70-8449-151D-5143-02190A816054}"/>
                </a:ext>
              </a:extLst>
            </p:cNvPr>
            <p:cNvSpPr/>
            <p:nvPr/>
          </p:nvSpPr>
          <p:spPr>
            <a:xfrm>
              <a:off x="5915246" y="2918130"/>
              <a:ext cx="180754" cy="175437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5" name="Rechteck 24">
              <a:extLst>
                <a:ext uri="{FF2B5EF4-FFF2-40B4-BE49-F238E27FC236}">
                  <a16:creationId xmlns:a16="http://schemas.microsoft.com/office/drawing/2014/main" id="{4C2E9D72-A1E3-7D8A-44CF-612BD0276967}"/>
                </a:ext>
              </a:extLst>
            </p:cNvPr>
            <p:cNvSpPr/>
            <p:nvPr/>
          </p:nvSpPr>
          <p:spPr>
            <a:xfrm>
              <a:off x="5429692" y="3117645"/>
              <a:ext cx="180754" cy="175437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6" name="Rechteck 25">
              <a:extLst>
                <a:ext uri="{FF2B5EF4-FFF2-40B4-BE49-F238E27FC236}">
                  <a16:creationId xmlns:a16="http://schemas.microsoft.com/office/drawing/2014/main" id="{AEADDDA0-FFE1-60B9-98C6-2870C546E211}"/>
                </a:ext>
              </a:extLst>
            </p:cNvPr>
            <p:cNvSpPr/>
            <p:nvPr/>
          </p:nvSpPr>
          <p:spPr>
            <a:xfrm>
              <a:off x="5672469" y="3117645"/>
              <a:ext cx="180754" cy="175437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7" name="Rechteck 26">
              <a:extLst>
                <a:ext uri="{FF2B5EF4-FFF2-40B4-BE49-F238E27FC236}">
                  <a16:creationId xmlns:a16="http://schemas.microsoft.com/office/drawing/2014/main" id="{DE49D2A9-E1A2-D93B-2868-9CC571BD383E}"/>
                </a:ext>
              </a:extLst>
            </p:cNvPr>
            <p:cNvSpPr/>
            <p:nvPr/>
          </p:nvSpPr>
          <p:spPr>
            <a:xfrm>
              <a:off x="5915246" y="3117645"/>
              <a:ext cx="180754" cy="175437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pic>
        <p:nvPicPr>
          <p:cNvPr id="42" name="Grafik 41">
            <a:extLst>
              <a:ext uri="{FF2B5EF4-FFF2-40B4-BE49-F238E27FC236}">
                <a16:creationId xmlns:a16="http://schemas.microsoft.com/office/drawing/2014/main" id="{9FB11945-FF55-E348-01EF-CB431182AD1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52981" y="4118624"/>
            <a:ext cx="2724530" cy="1952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96456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36FD25F-16C8-4427-43A2-4704784C68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Process</a:t>
            </a:r>
            <a:r>
              <a:rPr lang="de-DE" dirty="0"/>
              <a:t> Data</a:t>
            </a:r>
          </a:p>
        </p:txBody>
      </p:sp>
      <p:pic>
        <p:nvPicPr>
          <p:cNvPr id="6" name="Inhaltsplatzhalter 5">
            <a:extLst>
              <a:ext uri="{FF2B5EF4-FFF2-40B4-BE49-F238E27FC236}">
                <a16:creationId xmlns:a16="http://schemas.microsoft.com/office/drawing/2014/main" id="{4B0EE3BB-03B8-5A60-B167-78AE2AF1F60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06108" y="1586012"/>
            <a:ext cx="5782482" cy="428685"/>
          </a:xfrm>
        </p:spPr>
      </p:pic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3EEF0362-3820-722F-A71B-0EED276ECC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1898C-A912-43B4-BE81-11F0987612F7}" type="slidenum">
              <a:rPr lang="de-DE" smtClean="0"/>
              <a:t>5</a:t>
            </a:fld>
            <a:endParaRPr lang="de-DE"/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8D4747F1-2C8B-6EE4-30FB-B24536FA9F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81256" y="990162"/>
            <a:ext cx="2029108" cy="2067213"/>
          </a:xfrm>
          <a:prstGeom prst="rect">
            <a:avLst/>
          </a:prstGeom>
        </p:spPr>
      </p:pic>
      <p:pic>
        <p:nvPicPr>
          <p:cNvPr id="12" name="Grafik 11">
            <a:extLst>
              <a:ext uri="{FF2B5EF4-FFF2-40B4-BE49-F238E27FC236}">
                <a16:creationId xmlns:a16="http://schemas.microsoft.com/office/drawing/2014/main" id="{B3ABB1CD-128C-C749-F5A4-DFD7725AF24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4943"/>
          <a:stretch/>
        </p:blipFill>
        <p:spPr>
          <a:xfrm>
            <a:off x="398392" y="2726722"/>
            <a:ext cx="4790296" cy="2829320"/>
          </a:xfrm>
          <a:prstGeom prst="rect">
            <a:avLst/>
          </a:prstGeom>
        </p:spPr>
      </p:pic>
      <p:pic>
        <p:nvPicPr>
          <p:cNvPr id="14" name="Grafik 13">
            <a:extLst>
              <a:ext uri="{FF2B5EF4-FFF2-40B4-BE49-F238E27FC236}">
                <a16:creationId xmlns:a16="http://schemas.microsoft.com/office/drawing/2014/main" id="{D95AF4D2-6039-D5CB-6E86-50A74B2F135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81756" y="4646011"/>
            <a:ext cx="2057687" cy="2095792"/>
          </a:xfrm>
          <a:prstGeom prst="rect">
            <a:avLst/>
          </a:prstGeom>
        </p:spPr>
      </p:pic>
      <p:pic>
        <p:nvPicPr>
          <p:cNvPr id="16" name="Grafik 15">
            <a:extLst>
              <a:ext uri="{FF2B5EF4-FFF2-40B4-BE49-F238E27FC236}">
                <a16:creationId xmlns:a16="http://schemas.microsoft.com/office/drawing/2014/main" id="{782C7A24-8792-396D-944D-2C7665EA5D4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01742" y="5789601"/>
            <a:ext cx="4286848" cy="228632"/>
          </a:xfrm>
          <a:prstGeom prst="rect">
            <a:avLst/>
          </a:prstGeom>
        </p:spPr>
      </p:pic>
      <p:sp>
        <p:nvSpPr>
          <p:cNvPr id="17" name="Pfeil: nach rechts 16">
            <a:extLst>
              <a:ext uri="{FF2B5EF4-FFF2-40B4-BE49-F238E27FC236}">
                <a16:creationId xmlns:a16="http://schemas.microsoft.com/office/drawing/2014/main" id="{252329D6-7689-6C84-A01B-D0EF9CFC3FBD}"/>
              </a:ext>
            </a:extLst>
          </p:cNvPr>
          <p:cNvSpPr/>
          <p:nvPr/>
        </p:nvSpPr>
        <p:spPr>
          <a:xfrm>
            <a:off x="6620682" y="1622024"/>
            <a:ext cx="628482" cy="27644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8" name="Pfeil: nach rechts 17">
            <a:extLst>
              <a:ext uri="{FF2B5EF4-FFF2-40B4-BE49-F238E27FC236}">
                <a16:creationId xmlns:a16="http://schemas.microsoft.com/office/drawing/2014/main" id="{F5A2814F-C51C-2228-34D7-10D8042DD8BB}"/>
              </a:ext>
            </a:extLst>
          </p:cNvPr>
          <p:cNvSpPr/>
          <p:nvPr/>
        </p:nvSpPr>
        <p:spPr>
          <a:xfrm>
            <a:off x="6620682" y="5789601"/>
            <a:ext cx="628482" cy="27644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9" name="Pfeil: nach rechts 18">
            <a:extLst>
              <a:ext uri="{FF2B5EF4-FFF2-40B4-BE49-F238E27FC236}">
                <a16:creationId xmlns:a16="http://schemas.microsoft.com/office/drawing/2014/main" id="{5D917AB1-F4DB-C677-EDA1-08126561CABC}"/>
              </a:ext>
            </a:extLst>
          </p:cNvPr>
          <p:cNvSpPr/>
          <p:nvPr/>
        </p:nvSpPr>
        <p:spPr>
          <a:xfrm rot="5400000">
            <a:off x="1175145" y="2251455"/>
            <a:ext cx="515908" cy="23850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750807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F214EF7-35D4-C4AD-2127-1FD110410C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Access on </a:t>
            </a:r>
            <a:r>
              <a:rPr lang="de-DE" dirty="0" err="1"/>
              <a:t>github</a:t>
            </a:r>
            <a:r>
              <a:rPr lang="de-DE" dirty="0"/>
              <a:t> 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42EA58F-9C28-BFF5-1D90-8046A9AE3F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1. Register and </a:t>
            </a:r>
            <a:r>
              <a:rPr lang="de-DE" dirty="0" err="1"/>
              <a:t>login</a:t>
            </a:r>
            <a:endParaRPr lang="de-DE" dirty="0"/>
          </a:p>
          <a:p>
            <a:r>
              <a:rPr lang="de-DE" dirty="0"/>
              <a:t>2. Write </a:t>
            </a:r>
            <a:r>
              <a:rPr lang="de-DE" dirty="0" err="1"/>
              <a:t>me</a:t>
            </a:r>
            <a:r>
              <a:rPr lang="de-DE" dirty="0"/>
              <a:t> </a:t>
            </a:r>
            <a:r>
              <a:rPr lang="de-DE" dirty="0" err="1"/>
              <a:t>your</a:t>
            </a:r>
            <a:r>
              <a:rPr lang="de-DE" dirty="0"/>
              <a:t> </a:t>
            </a:r>
            <a:r>
              <a:rPr lang="de-DE" dirty="0" err="1"/>
              <a:t>name</a:t>
            </a:r>
            <a:endParaRPr lang="de-DE" dirty="0"/>
          </a:p>
          <a:p>
            <a:r>
              <a:rPr lang="de-DE" dirty="0"/>
              <a:t>3. I </a:t>
            </a:r>
            <a:r>
              <a:rPr lang="de-DE" dirty="0" err="1"/>
              <a:t>add</a:t>
            </a:r>
            <a:r>
              <a:rPr lang="de-DE" dirty="0"/>
              <a:t> u </a:t>
            </a:r>
            <a:r>
              <a:rPr lang="de-DE" dirty="0" err="1"/>
              <a:t>as</a:t>
            </a:r>
            <a:r>
              <a:rPr lang="de-DE" dirty="0"/>
              <a:t> </a:t>
            </a:r>
            <a:r>
              <a:rPr lang="de-DE" dirty="0" err="1"/>
              <a:t>cooperation</a:t>
            </a:r>
            <a:r>
              <a:rPr lang="de-DE" dirty="0"/>
              <a:t> </a:t>
            </a:r>
            <a:r>
              <a:rPr lang="de-DE" dirty="0" err="1"/>
              <a:t>partner</a:t>
            </a:r>
            <a:endParaRPr lang="de-DE" dirty="0"/>
          </a:p>
          <a:p>
            <a:r>
              <a:rPr lang="de-DE" dirty="0"/>
              <a:t>4. </a:t>
            </a:r>
            <a:r>
              <a:rPr lang="de-DE" dirty="0" err="1"/>
              <a:t>now</a:t>
            </a:r>
            <a:r>
              <a:rPr lang="de-DE" dirty="0"/>
              <a:t> </a:t>
            </a:r>
            <a:r>
              <a:rPr lang="de-DE" dirty="0" err="1"/>
              <a:t>you</a:t>
            </a:r>
            <a:r>
              <a:rPr lang="de-DE" dirty="0"/>
              <a:t> </a:t>
            </a:r>
            <a:r>
              <a:rPr lang="de-DE" dirty="0" err="1"/>
              <a:t>can</a:t>
            </a:r>
            <a:r>
              <a:rPr lang="de-DE" dirty="0"/>
              <a:t> </a:t>
            </a:r>
            <a:r>
              <a:rPr lang="de-DE" dirty="0" err="1"/>
              <a:t>always</a:t>
            </a:r>
            <a:r>
              <a:rPr lang="de-DE" dirty="0"/>
              <a:t> </a:t>
            </a:r>
            <a:r>
              <a:rPr lang="de-DE" dirty="0" err="1"/>
              <a:t>access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newest</a:t>
            </a:r>
            <a:r>
              <a:rPr lang="de-DE" dirty="0"/>
              <a:t> </a:t>
            </a:r>
            <a:r>
              <a:rPr lang="de-DE" dirty="0" err="1"/>
              <a:t>version</a:t>
            </a:r>
            <a:endParaRPr lang="de-DE" dirty="0"/>
          </a:p>
          <a:p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60CFA6E9-25DA-F4B3-D70C-77E4017CE6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1898C-A912-43B4-BE81-11F0987612F7}" type="slidenum">
              <a:rPr lang="de-DE" smtClean="0"/>
              <a:t>6</a:t>
            </a:fld>
            <a:endParaRPr lang="de-DE"/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11D7DE7C-EA9D-DCEE-929B-9C26D2080ED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50989"/>
          <a:stretch/>
        </p:blipFill>
        <p:spPr>
          <a:xfrm>
            <a:off x="4898065" y="1570003"/>
            <a:ext cx="5975497" cy="46966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6785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7F10CC9-6CA7-83FA-5AEB-08FDCF81A7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54486"/>
            <a:ext cx="10515600" cy="1325563"/>
          </a:xfrm>
        </p:spPr>
        <p:txBody>
          <a:bodyPr/>
          <a:lstStyle/>
          <a:p>
            <a:r>
              <a:rPr lang="de-DE" dirty="0"/>
              <a:t>Instruktionen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627DB931-CFA7-75BB-25FC-D499B658C6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132828" y="6356350"/>
            <a:ext cx="1220972" cy="365125"/>
          </a:xfrm>
        </p:spPr>
        <p:txBody>
          <a:bodyPr/>
          <a:lstStyle/>
          <a:p>
            <a:fld id="{A7F1898C-A912-43B4-BE81-11F0987612F7}" type="slidenum">
              <a:rPr lang="de-DE" smtClean="0"/>
              <a:t>7</a:t>
            </a:fld>
            <a:endParaRPr lang="de-DE"/>
          </a:p>
        </p:txBody>
      </p:sp>
      <p:grpSp>
        <p:nvGrpSpPr>
          <p:cNvPr id="10" name="Gruppieren 9">
            <a:extLst>
              <a:ext uri="{FF2B5EF4-FFF2-40B4-BE49-F238E27FC236}">
                <a16:creationId xmlns:a16="http://schemas.microsoft.com/office/drawing/2014/main" id="{31D994C4-561B-FCD5-77C8-FF291BA2731E}"/>
              </a:ext>
            </a:extLst>
          </p:cNvPr>
          <p:cNvGrpSpPr/>
          <p:nvPr/>
        </p:nvGrpSpPr>
        <p:grpSpPr>
          <a:xfrm>
            <a:off x="6216503" y="0"/>
            <a:ext cx="5975497" cy="4696654"/>
            <a:chOff x="6216503" y="0"/>
            <a:chExt cx="5975497" cy="4696654"/>
          </a:xfrm>
        </p:grpSpPr>
        <p:pic>
          <p:nvPicPr>
            <p:cNvPr id="5" name="Grafik 4">
              <a:extLst>
                <a:ext uri="{FF2B5EF4-FFF2-40B4-BE49-F238E27FC236}">
                  <a16:creationId xmlns:a16="http://schemas.microsoft.com/office/drawing/2014/main" id="{7A2094ED-3AA7-41D3-4566-E07B8F907E8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r="50989"/>
            <a:stretch/>
          </p:blipFill>
          <p:spPr>
            <a:xfrm>
              <a:off x="6216503" y="0"/>
              <a:ext cx="5975497" cy="4696654"/>
            </a:xfrm>
            <a:prstGeom prst="rect">
              <a:avLst/>
            </a:prstGeom>
          </p:spPr>
        </p:pic>
        <p:sp>
          <p:nvSpPr>
            <p:cNvPr id="6" name="Rechteck 5">
              <a:extLst>
                <a:ext uri="{FF2B5EF4-FFF2-40B4-BE49-F238E27FC236}">
                  <a16:creationId xmlns:a16="http://schemas.microsoft.com/office/drawing/2014/main" id="{033D78E9-2B9A-6C3E-B60A-5C03052403EC}"/>
                </a:ext>
              </a:extLst>
            </p:cNvPr>
            <p:cNvSpPr/>
            <p:nvPr/>
          </p:nvSpPr>
          <p:spPr>
            <a:xfrm>
              <a:off x="8399720" y="4411395"/>
              <a:ext cx="988828" cy="179387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pic>
        <p:nvPicPr>
          <p:cNvPr id="8" name="Grafik 7">
            <a:extLst>
              <a:ext uri="{FF2B5EF4-FFF2-40B4-BE49-F238E27FC236}">
                <a16:creationId xmlns:a16="http://schemas.microsoft.com/office/drawing/2014/main" id="{015FD5F5-FEFD-7503-4D82-C20DB0C9628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41475"/>
          <a:stretch/>
        </p:blipFill>
        <p:spPr>
          <a:xfrm>
            <a:off x="626710" y="1250101"/>
            <a:ext cx="4209332" cy="2124371"/>
          </a:xfrm>
          <a:prstGeom prst="rect">
            <a:avLst/>
          </a:prstGeom>
        </p:spPr>
      </p:pic>
      <p:sp>
        <p:nvSpPr>
          <p:cNvPr id="9" name="Pfeil: nach rechts 8">
            <a:extLst>
              <a:ext uri="{FF2B5EF4-FFF2-40B4-BE49-F238E27FC236}">
                <a16:creationId xmlns:a16="http://schemas.microsoft.com/office/drawing/2014/main" id="{6FF862B9-0237-CF3E-216D-FEA332A8F90B}"/>
              </a:ext>
            </a:extLst>
          </p:cNvPr>
          <p:cNvSpPr/>
          <p:nvPr/>
        </p:nvSpPr>
        <p:spPr>
          <a:xfrm rot="10800000">
            <a:off x="5168035" y="2312286"/>
            <a:ext cx="628482" cy="27644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grpSp>
        <p:nvGrpSpPr>
          <p:cNvPr id="14" name="Gruppieren 13">
            <a:extLst>
              <a:ext uri="{FF2B5EF4-FFF2-40B4-BE49-F238E27FC236}">
                <a16:creationId xmlns:a16="http://schemas.microsoft.com/office/drawing/2014/main" id="{DF0793B4-2292-9CA2-BA8F-62C151F83C8D}"/>
              </a:ext>
            </a:extLst>
          </p:cNvPr>
          <p:cNvGrpSpPr/>
          <p:nvPr/>
        </p:nvGrpSpPr>
        <p:grpSpPr>
          <a:xfrm>
            <a:off x="838200" y="3958727"/>
            <a:ext cx="4552508" cy="2580185"/>
            <a:chOff x="838200" y="3958727"/>
            <a:chExt cx="4552508" cy="2580185"/>
          </a:xfrm>
        </p:grpSpPr>
        <p:pic>
          <p:nvPicPr>
            <p:cNvPr id="12" name="Grafik 11">
              <a:extLst>
                <a:ext uri="{FF2B5EF4-FFF2-40B4-BE49-F238E27FC236}">
                  <a16:creationId xmlns:a16="http://schemas.microsoft.com/office/drawing/2014/main" id="{C34A4D66-D326-4DCC-CD94-CB852935C7E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38200" y="3958727"/>
              <a:ext cx="4552508" cy="2580185"/>
            </a:xfrm>
            <a:prstGeom prst="rect">
              <a:avLst/>
            </a:prstGeom>
          </p:spPr>
        </p:pic>
        <p:sp>
          <p:nvSpPr>
            <p:cNvPr id="13" name="Rechteck 12">
              <a:extLst>
                <a:ext uri="{FF2B5EF4-FFF2-40B4-BE49-F238E27FC236}">
                  <a16:creationId xmlns:a16="http://schemas.microsoft.com/office/drawing/2014/main" id="{C8043805-129B-1F73-AF43-CE5C3A481316}"/>
                </a:ext>
              </a:extLst>
            </p:cNvPr>
            <p:cNvSpPr/>
            <p:nvPr/>
          </p:nvSpPr>
          <p:spPr>
            <a:xfrm>
              <a:off x="4380614" y="5562600"/>
              <a:ext cx="277111" cy="302419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sp>
        <p:nvSpPr>
          <p:cNvPr id="15" name="Textfeld 14">
            <a:extLst>
              <a:ext uri="{FF2B5EF4-FFF2-40B4-BE49-F238E27FC236}">
                <a16:creationId xmlns:a16="http://schemas.microsoft.com/office/drawing/2014/main" id="{9F5FA2C3-A78D-20BE-93A1-AE4AA264FD1F}"/>
              </a:ext>
            </a:extLst>
          </p:cNvPr>
          <p:cNvSpPr txBox="1"/>
          <p:nvPr/>
        </p:nvSpPr>
        <p:spPr>
          <a:xfrm>
            <a:off x="5481082" y="5865019"/>
            <a:ext cx="29186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Download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procedure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4267843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F0A6738-D1A2-4CA3-3F4E-35318C552B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Further </a:t>
            </a:r>
            <a:r>
              <a:rPr lang="de-DE" dirty="0" err="1"/>
              <a:t>steps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10C2AED-42DD-3956-DB7D-6323918214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Fit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data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obtain</a:t>
            </a:r>
            <a:r>
              <a:rPr lang="de-DE" dirty="0"/>
              <a:t> </a:t>
            </a:r>
            <a:r>
              <a:rPr lang="de-DE" dirty="0" err="1"/>
              <a:t>further</a:t>
            </a:r>
            <a:r>
              <a:rPr lang="de-DE" dirty="0"/>
              <a:t> </a:t>
            </a:r>
            <a:r>
              <a:rPr lang="de-DE" dirty="0" err="1"/>
              <a:t>information</a:t>
            </a:r>
            <a:r>
              <a:rPr lang="de-DE" dirty="0"/>
              <a:t> </a:t>
            </a:r>
            <a:r>
              <a:rPr lang="de-DE" dirty="0" err="1"/>
              <a:t>about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peaks</a:t>
            </a:r>
            <a:r>
              <a:rPr lang="de-DE" dirty="0"/>
              <a:t>:</a:t>
            </a:r>
          </a:p>
          <a:p>
            <a:pPr marL="0" indent="0">
              <a:buNone/>
            </a:pPr>
            <a:r>
              <a:rPr lang="de-DE" dirty="0"/>
              <a:t>	- maximum (</a:t>
            </a:r>
            <a:r>
              <a:rPr lang="de-DE" dirty="0" err="1"/>
              <a:t>gaussian</a:t>
            </a:r>
            <a:r>
              <a:rPr lang="de-DE" dirty="0"/>
              <a:t>) =&gt; </a:t>
            </a:r>
            <a:r>
              <a:rPr lang="de-DE" dirty="0" err="1"/>
              <a:t>peak</a:t>
            </a:r>
            <a:r>
              <a:rPr lang="de-DE" dirty="0"/>
              <a:t> </a:t>
            </a:r>
            <a:r>
              <a:rPr lang="de-DE" dirty="0" err="1"/>
              <a:t>picking</a:t>
            </a:r>
            <a:endParaRPr lang="de-DE" dirty="0"/>
          </a:p>
          <a:p>
            <a:pPr marL="0" indent="0">
              <a:buNone/>
            </a:pPr>
            <a:r>
              <a:rPr lang="de-DE" dirty="0"/>
              <a:t>	- A, B </a:t>
            </a:r>
            <a:r>
              <a:rPr lang="de-DE" dirty="0" err="1"/>
              <a:t>exciton</a:t>
            </a:r>
            <a:r>
              <a:rPr lang="de-DE" dirty="0"/>
              <a:t> (double </a:t>
            </a:r>
            <a:r>
              <a:rPr lang="de-DE" dirty="0" err="1"/>
              <a:t>voigt</a:t>
            </a:r>
            <a:r>
              <a:rPr lang="de-DE" dirty="0"/>
              <a:t>) =&gt; </a:t>
            </a:r>
            <a:r>
              <a:rPr lang="de-DE" dirty="0" err="1"/>
              <a:t>peaks</a:t>
            </a:r>
            <a:r>
              <a:rPr lang="de-DE" dirty="0"/>
              <a:t>, </a:t>
            </a:r>
            <a:r>
              <a:rPr lang="de-DE" dirty="0" err="1"/>
              <a:t>broughdening</a:t>
            </a:r>
            <a:r>
              <a:rPr lang="de-DE" dirty="0"/>
              <a:t>, </a:t>
            </a:r>
            <a:r>
              <a:rPr lang="de-DE" dirty="0" err="1"/>
              <a:t>ect.</a:t>
            </a:r>
            <a:r>
              <a:rPr lang="de-DE" dirty="0"/>
              <a:t> </a:t>
            </a:r>
          </a:p>
          <a:p>
            <a:pPr marL="0" indent="0">
              <a:buNone/>
            </a:pPr>
            <a:endParaRPr lang="de-DE" dirty="0"/>
          </a:p>
          <a:p>
            <a:pPr marL="0" indent="0">
              <a:buNone/>
            </a:pPr>
            <a:endParaRPr lang="de-DE" dirty="0"/>
          </a:p>
          <a:p>
            <a:pPr marL="0" indent="0">
              <a:buNone/>
            </a:pPr>
            <a:endParaRPr lang="de-DE" dirty="0"/>
          </a:p>
          <a:p>
            <a:pPr marL="0" indent="0">
              <a:buNone/>
            </a:pPr>
            <a:endParaRPr lang="de-DE" dirty="0"/>
          </a:p>
          <a:p>
            <a:pPr marL="0" indent="0">
              <a:buNone/>
            </a:pPr>
            <a:r>
              <a:rPr lang="de-DE" dirty="0" err="1"/>
              <a:t>Fitparamters</a:t>
            </a:r>
            <a:r>
              <a:rPr lang="de-DE" dirty="0"/>
              <a:t> </a:t>
            </a:r>
            <a:r>
              <a:rPr lang="de-DE" dirty="0" err="1"/>
              <a:t>are</a:t>
            </a:r>
            <a:r>
              <a:rPr lang="de-DE" dirty="0"/>
              <a:t> </a:t>
            </a:r>
            <a:r>
              <a:rPr lang="de-DE" dirty="0" err="1"/>
              <a:t>saved</a:t>
            </a:r>
            <a:r>
              <a:rPr lang="de-DE" dirty="0"/>
              <a:t> in a 3D </a:t>
            </a:r>
            <a:r>
              <a:rPr lang="de-DE" dirty="0" err="1"/>
              <a:t>wave</a:t>
            </a:r>
            <a:r>
              <a:rPr lang="de-DE" dirty="0"/>
              <a:t> </a:t>
            </a:r>
            <a:r>
              <a:rPr lang="de-DE" dirty="0" err="1"/>
              <a:t>according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HSI </a:t>
            </a:r>
            <a:r>
              <a:rPr lang="de-DE" dirty="0" err="1"/>
              <a:t>spec</a:t>
            </a:r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23D64FB1-ED32-DCC6-9A78-4346A4E327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1898C-A912-43B4-BE81-11F0987612F7}" type="slidenum">
              <a:rPr lang="de-DE" smtClean="0"/>
              <a:t>8</a:t>
            </a:fld>
            <a:endParaRPr lang="de-DE"/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45525DF9-4340-C45B-B4E4-607D88A785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456" y="3841146"/>
            <a:ext cx="5687219" cy="12384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86375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6B44517-572E-61D8-6DBD-BEDAD0E2081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 dirty="0"/>
              <a:t>Further </a:t>
            </a:r>
            <a:r>
              <a:rPr lang="de-DE" dirty="0" err="1"/>
              <a:t>questions</a:t>
            </a:r>
            <a:r>
              <a:rPr lang="de-DE" dirty="0"/>
              <a:t>?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1CF4C9DD-7D9D-3995-4DB2-A03AD9EA104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554E9FFF-095B-75BE-3386-E2E7B30B42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1898C-A912-43B4-BE81-11F0987612F7}" type="slidenum">
              <a:rPr lang="de-DE" smtClean="0"/>
              <a:t>9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678757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164</Words>
  <Application>Microsoft Office PowerPoint</Application>
  <PresentationFormat>Breitbild</PresentationFormat>
  <Paragraphs>43</Paragraphs>
  <Slides>9</Slides>
  <Notes>1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Office</vt:lpstr>
      <vt:lpstr>Report – Hyperspectral imaging </vt:lpstr>
      <vt:lpstr>HSI Program in Igor</vt:lpstr>
      <vt:lpstr>Load the files</vt:lpstr>
      <vt:lpstr>Cosmic ray removal</vt:lpstr>
      <vt:lpstr>Process Data</vt:lpstr>
      <vt:lpstr>Access on github </vt:lpstr>
      <vt:lpstr>Instruktionen</vt:lpstr>
      <vt:lpstr>Further steps</vt:lpstr>
      <vt:lpstr>Further questions?</vt:lpstr>
    </vt:vector>
  </TitlesOfParts>
  <Company>Universitaet Wuerzburg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Anna Hellinger</dc:creator>
  <cp:lastModifiedBy>Moritz Limbacher</cp:lastModifiedBy>
  <cp:revision>58</cp:revision>
  <dcterms:created xsi:type="dcterms:W3CDTF">2021-01-26T08:28:12Z</dcterms:created>
  <dcterms:modified xsi:type="dcterms:W3CDTF">2024-10-21T17:45:53Z</dcterms:modified>
</cp:coreProperties>
</file>